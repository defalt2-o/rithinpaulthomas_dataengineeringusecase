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7" r:id="rId5"/>
    <p:sldId id="258" r:id="rId6"/>
    <p:sldId id="281" r:id="rId7"/>
    <p:sldId id="271" r:id="rId8"/>
    <p:sldId id="286" r:id="rId9"/>
    <p:sldId id="287" r:id="rId10"/>
    <p:sldId id="282" r:id="rId11"/>
    <p:sldId id="283" r:id="rId12"/>
    <p:sldId id="288" r:id="rId13"/>
    <p:sldId id="284" r:id="rId14"/>
    <p:sldId id="278" r:id="rId15"/>
    <p:sldId id="285" r:id="rId16"/>
    <p:sldId id="290" r:id="rId17"/>
    <p:sldId id="291" r:id="rId18"/>
    <p:sldId id="292" r:id="rId19"/>
    <p:sldId id="2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90655" autoAdjust="0"/>
  </p:normalViewPr>
  <p:slideViewPr>
    <p:cSldViewPr snapToGrid="0">
      <p:cViewPr varScale="1">
        <p:scale>
          <a:sx n="106" d="100"/>
          <a:sy n="106" d="100"/>
        </p:scale>
        <p:origin x="84" y="6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3/15/2026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3/15/2026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702683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E0CC-25EC-1919-9861-30796A0E8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6DA22-9109-C6ED-4B2F-F6714414B242}"/>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098A925-BCF6-25FE-386A-45C0B6082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303F9E-5186-0BE1-28A2-47C840E7682D}"/>
              </a:ext>
            </a:extLst>
          </p:cNvPr>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273514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08D42-A53F-01C8-0E31-05EFD783B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E9BEA-AD6F-95C8-A6B0-F630852080AA}"/>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21FA7F3-9FDC-4895-F145-C3B59D4403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22A76-7DC6-DA82-9E38-86CA6FFA78D5}"/>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104339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8370C-658C-534E-C78D-02289589F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29A70-DD9E-E39B-8270-1E3E0CA72F0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91E460E-F942-AA79-EF39-57328B72B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6C452-F71F-8D3E-0D3A-C5859D67252D}"/>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3373481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83A0-FE2F-F9FC-F422-23BA7B3BA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0E510-A786-95F3-7E01-EEDA5B8726F2}"/>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8E94D386-B4F2-20E3-9C2D-C442F4E717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90EC77-A4BA-D7D4-0915-D68E77A7F70C}"/>
              </a:ext>
            </a:extLst>
          </p:cNvPr>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2751931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CECC-43A6-DFCD-F8E6-47708F7AD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CCE4A-0099-1769-4EBD-F1BB7A194C5C}"/>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7844CD4B-32B0-BCB5-F0C8-3883B1DD1D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802043-8B4B-1259-278D-297EF25A1D0C}"/>
              </a:ext>
            </a:extLst>
          </p:cNvPr>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1936813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8BE3-79DD-9FB0-19A2-4B6570D35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80F7F-0525-0ACF-BBC3-A78948FB3E0C}"/>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B28CA55-DA97-5396-93E1-32D016D65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0D4414-62A8-26A6-72C2-006D341BBE7F}"/>
              </a:ext>
            </a:extLst>
          </p:cNvPr>
          <p:cNvSpPr>
            <a:spLocks noGrp="1"/>
          </p:cNvSpPr>
          <p:nvPr>
            <p:ph type="sldNum" sz="quarter" idx="5"/>
          </p:nvPr>
        </p:nvSpPr>
        <p:spPr/>
        <p:txBody>
          <a:bodyPr/>
          <a:lstStyle/>
          <a:p>
            <a:fld id="{22289C57-55D7-40A4-A101-E74FAC7A092B}" type="slidenum">
              <a:rPr lang="en-US" smtClean="0"/>
              <a:t>15</a:t>
            </a:fld>
            <a:endParaRPr lang="en-US" dirty="0"/>
          </a:p>
        </p:txBody>
      </p:sp>
    </p:spTree>
    <p:extLst>
      <p:ext uri="{BB962C8B-B14F-4D97-AF65-F5344CB8AC3E}">
        <p14:creationId xmlns:p14="http://schemas.microsoft.com/office/powerpoint/2010/main" val="3725034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9167-9611-D12B-6B4F-A8C1D6067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C8838-920D-79BC-5C01-5B45A7DBB99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BA53D52D-3720-223F-C4FB-281CAB545B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7EE2D-3E08-0127-5754-DA7B582568B6}"/>
              </a:ext>
            </a:extLst>
          </p:cNvPr>
          <p:cNvSpPr>
            <a:spLocks noGrp="1"/>
          </p:cNvSpPr>
          <p:nvPr>
            <p:ph type="sldNum" sz="quarter" idx="5"/>
          </p:nvPr>
        </p:nvSpPr>
        <p:spPr/>
        <p:txBody>
          <a:bodyPr/>
          <a:lstStyle/>
          <a:p>
            <a:fld id="{22289C57-55D7-40A4-A101-E74FAC7A092B}" type="slidenum">
              <a:rPr lang="en-US" smtClean="0"/>
              <a:t>16</a:t>
            </a:fld>
            <a:endParaRPr lang="en-US" dirty="0"/>
          </a:p>
        </p:txBody>
      </p:sp>
    </p:spTree>
    <p:extLst>
      <p:ext uri="{BB962C8B-B14F-4D97-AF65-F5344CB8AC3E}">
        <p14:creationId xmlns:p14="http://schemas.microsoft.com/office/powerpoint/2010/main" val="24804460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dirty="0"/>
              <a:t>Click icon to add picture</a:t>
            </a:r>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dirty="0"/>
              <a:t>Click icon to add picture</a:t>
            </a:r>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dirty="0"/>
              <a:t>Click icon to add table</a:t>
            </a:r>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dirty="0"/>
              <a:t>Click icon to add table</a:t>
            </a:r>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0D5358-80AF-B2A0-814C-DCE99E7CF72A}"/>
              </a:ext>
            </a:extLst>
          </p:cNvPr>
          <p:cNvSpPr txBox="1">
            <a:spLocks/>
          </p:cNvSpPr>
          <p:nvPr/>
        </p:nvSpPr>
        <p:spPr>
          <a:xfrm>
            <a:off x="0" y="0"/>
            <a:ext cx="4941771" cy="3200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kern="1200" cap="all" spc="150" baseline="0">
                <a:solidFill>
                  <a:schemeClr val="bg1"/>
                </a:solidFill>
                <a:latin typeface="+mj-lt"/>
                <a:ea typeface="+mj-ea"/>
                <a:cs typeface="+mj-cs"/>
              </a:defRPr>
            </a:lvl1pPr>
          </a:lstStyle>
          <a:p>
            <a:pPr algn="ctr"/>
            <a:r>
              <a:rPr lang="en-US" dirty="0"/>
              <a:t>VIRTUAL SERVER LOGS PIPELINE</a:t>
            </a:r>
            <a:br>
              <a:rPr lang="en-US" dirty="0"/>
            </a:br>
            <a:br>
              <a:rPr lang="en-US" dirty="0"/>
            </a:br>
            <a:r>
              <a:rPr lang="en-US" dirty="0"/>
              <a:t>DATA ENGINEERING USE CASE ANALYSIS</a:t>
            </a:r>
          </a:p>
        </p:txBody>
      </p:sp>
      <p:sp>
        <p:nvSpPr>
          <p:cNvPr id="10" name="Title 1">
            <a:extLst>
              <a:ext uri="{FF2B5EF4-FFF2-40B4-BE49-F238E27FC236}">
                <a16:creationId xmlns:a16="http://schemas.microsoft.com/office/drawing/2014/main" id="{C759D2F1-CA67-0CB0-CDA2-CA52664074DC}"/>
              </a:ext>
            </a:extLst>
          </p:cNvPr>
          <p:cNvSpPr txBox="1">
            <a:spLocks/>
          </p:cNvSpPr>
          <p:nvPr/>
        </p:nvSpPr>
        <p:spPr>
          <a:xfrm>
            <a:off x="0" y="4127157"/>
            <a:ext cx="5012724" cy="27308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spc="150" baseline="0">
                <a:solidFill>
                  <a:schemeClr val="tx1"/>
                </a:solidFill>
                <a:latin typeface="+mj-lt"/>
                <a:ea typeface="+mj-ea"/>
                <a:cs typeface="+mj-cs"/>
              </a:defRPr>
            </a:lvl1pPr>
          </a:lstStyle>
          <a:p>
            <a:pPr algn="ctr"/>
            <a:r>
              <a:rPr lang="en-US" sz="2800" dirty="0">
                <a:solidFill>
                  <a:schemeClr val="bg1"/>
                </a:solidFill>
              </a:rPr>
              <a:t>RITHIN PAUL THOMAS</a:t>
            </a:r>
          </a:p>
          <a:p>
            <a:pPr algn="ctr"/>
            <a:r>
              <a:rPr lang="en-US" sz="2800" dirty="0">
                <a:solidFill>
                  <a:schemeClr val="bg1"/>
                </a:solidFill>
              </a:rPr>
              <a:t>Data engineer intern</a:t>
            </a:r>
          </a:p>
          <a:p>
            <a:pPr algn="ctr"/>
            <a:r>
              <a:rPr lang="en-US" sz="2800" dirty="0">
                <a:solidFill>
                  <a:schemeClr val="bg1"/>
                </a:solidFill>
              </a:rPr>
              <a:t>13/03/2026</a:t>
            </a:r>
          </a:p>
        </p:txBody>
      </p:sp>
    </p:spTree>
    <p:extLst>
      <p:ext uri="{BB962C8B-B14F-4D97-AF65-F5344CB8AC3E}">
        <p14:creationId xmlns:p14="http://schemas.microsoft.com/office/powerpoint/2010/main" val="1713219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351018" y="739942"/>
            <a:ext cx="7288282" cy="584800"/>
          </a:xfrm>
        </p:spPr>
        <p:txBody>
          <a:bodyPr/>
          <a:lstStyle/>
          <a:p>
            <a:r>
              <a:rPr lang="en-US" dirty="0"/>
              <a:t>objectives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2266867" y="2122516"/>
            <a:ext cx="7288212" cy="3407051"/>
          </a:xfrm>
        </p:spPr>
        <p:txBody>
          <a:bodyPr>
            <a:normAutofit fontScale="92500" lnSpcReduction="10000"/>
          </a:bodyPr>
          <a:lstStyle/>
          <a:p>
            <a:r>
              <a:rPr lang="en-US" dirty="0"/>
              <a:t>The Sample Dataset is to be ingested into Azure Data Lake Storage Gen2, after which it would be transformed, curated, and then analyzed using Power BI to identify KPIs. The pipelines created needed to </a:t>
            </a:r>
          </a:p>
          <a:p>
            <a:pPr lvl="1"/>
            <a:r>
              <a:rPr lang="en-US" dirty="0"/>
              <a:t>Ingest data from the staging container -&gt; raw container</a:t>
            </a:r>
          </a:p>
          <a:p>
            <a:pPr lvl="1"/>
            <a:r>
              <a:rPr lang="en-US" dirty="0"/>
              <a:t>Transform data located in raw container and perform appropriate checks to validate and protect data.</a:t>
            </a:r>
          </a:p>
          <a:p>
            <a:pPr lvl="1"/>
            <a:r>
              <a:rPr lang="en-US" dirty="0"/>
              <a:t>Store transformed data in the processed container, which would be aggregated and sent to the curated container for analysis-ready data.</a:t>
            </a:r>
          </a:p>
          <a:p>
            <a:pPr lvl="1"/>
            <a:r>
              <a:rPr lang="en-US" dirty="0"/>
              <a:t>Pull data from the Azure Data Lake Storage to Power BI, to showcase trends and performance indicators or bottlenecks.</a:t>
            </a:r>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103521" y="1480016"/>
            <a:ext cx="8420100" cy="569146"/>
          </a:xfrm>
        </p:spPr>
        <p:txBody>
          <a:bodyPr/>
          <a:lstStyle/>
          <a:p>
            <a:r>
              <a:rPr lang="en-US" dirty="0"/>
              <a:t>Data Ingestion pipeline</a:t>
            </a:r>
          </a:p>
        </p:txBody>
      </p:sp>
      <p:sp>
        <p:nvSpPr>
          <p:cNvPr id="50" name="Content Placeholder 49">
            <a:extLst>
              <a:ext uri="{FF2B5EF4-FFF2-40B4-BE49-F238E27FC236}">
                <a16:creationId xmlns:a16="http://schemas.microsoft.com/office/drawing/2014/main" id="{8F6B2AE9-DDE4-FD99-A235-3B39EEE21481}"/>
              </a:ext>
            </a:extLst>
          </p:cNvPr>
          <p:cNvSpPr>
            <a:spLocks noGrp="1"/>
          </p:cNvSpPr>
          <p:nvPr>
            <p:ph sz="half" idx="14"/>
          </p:nvPr>
        </p:nvSpPr>
        <p:spPr>
          <a:xfrm>
            <a:off x="2103521" y="2289068"/>
            <a:ext cx="8538411" cy="3234264"/>
          </a:xfrm>
        </p:spPr>
        <p:txBody>
          <a:bodyPr>
            <a:normAutofit fontScale="92500" lnSpcReduction="10000"/>
          </a:bodyPr>
          <a:lstStyle/>
          <a:p>
            <a:r>
              <a:rPr lang="en-US" b="1" dirty="0"/>
              <a:t>This pipeline extracts the data from the staging container and copies it to the raw container for traceability.</a:t>
            </a:r>
          </a:p>
          <a:p>
            <a:pPr marL="285750" indent="-285750">
              <a:buFont typeface="Arial" panose="020B0604020202020204" pitchFamily="34" charset="0"/>
              <a:buChar char="•"/>
            </a:pPr>
            <a:r>
              <a:rPr lang="en-US" dirty="0"/>
              <a:t>Scheduled Triggers run the pipeline, where validation activity checks for the existence of log files in staging container.</a:t>
            </a:r>
          </a:p>
          <a:p>
            <a:pPr marL="285750" indent="-285750">
              <a:buFont typeface="Arial" panose="020B0604020202020204" pitchFamily="34" charset="0"/>
              <a:buChar char="•"/>
            </a:pPr>
            <a:r>
              <a:rPr lang="en-US" dirty="0"/>
              <a:t>If validated, file names are extracted via ‘GetMetadata’ activity and sent to a ‘ForEach’ activity, where they are copied to the raw container, after performing checks for file size and type. Else, ‘Fail’ activity stops the pipeline.</a:t>
            </a:r>
          </a:p>
          <a:p>
            <a:pPr marL="285750" indent="-285750">
              <a:buFont typeface="Arial" panose="020B0604020202020204" pitchFamily="34" charset="0"/>
              <a:buChar char="•"/>
            </a:pPr>
            <a:r>
              <a:rPr lang="en-US" dirty="0"/>
              <a:t>Files in staging are moved to an archive folder to prevent recopying the same files on the next pipeline run. </a:t>
            </a:r>
          </a:p>
          <a:p>
            <a:pPr marL="285750" indent="-285750">
              <a:buFont typeface="Arial" panose="020B0604020202020204" pitchFamily="34" charset="0"/>
              <a:buChar char="•"/>
            </a:pPr>
            <a:r>
              <a:rPr lang="en-US" dirty="0"/>
              <a:t>‘ExecutePipeline’ Activity is used after copying to start the transformation pipeline.</a:t>
            </a:r>
          </a:p>
        </p:txBody>
      </p:sp>
    </p:spTree>
    <p:extLst>
      <p:ext uri="{BB962C8B-B14F-4D97-AF65-F5344CB8AC3E}">
        <p14:creationId xmlns:p14="http://schemas.microsoft.com/office/powerpoint/2010/main" val="103458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60035AC-4D72-C245-11D5-59A1D83030D5}"/>
              </a:ext>
            </a:extLst>
          </p:cNvPr>
          <p:cNvPicPr>
            <a:picLocks noChangeAspect="1"/>
          </p:cNvPicPr>
          <p:nvPr/>
        </p:nvPicPr>
        <p:blipFill>
          <a:blip r:embed="rId3"/>
          <a:stretch>
            <a:fillRect/>
          </a:stretch>
        </p:blipFill>
        <p:spPr>
          <a:xfrm>
            <a:off x="295078" y="1269331"/>
            <a:ext cx="11710129" cy="4319337"/>
          </a:xfrm>
          <a:prstGeom prst="rect">
            <a:avLst/>
          </a:prstGeom>
        </p:spPr>
      </p:pic>
      <p:sp>
        <p:nvSpPr>
          <p:cNvPr id="11" name="TextBox 10">
            <a:extLst>
              <a:ext uri="{FF2B5EF4-FFF2-40B4-BE49-F238E27FC236}">
                <a16:creationId xmlns:a16="http://schemas.microsoft.com/office/drawing/2014/main" id="{BC84BB9B-3177-87EC-B0B1-37FDB0983CC1}"/>
              </a:ext>
            </a:extLst>
          </p:cNvPr>
          <p:cNvSpPr txBox="1"/>
          <p:nvPr/>
        </p:nvSpPr>
        <p:spPr>
          <a:xfrm>
            <a:off x="3934799" y="501649"/>
            <a:ext cx="4322402" cy="523220"/>
          </a:xfrm>
          <a:prstGeom prst="rect">
            <a:avLst/>
          </a:prstGeom>
          <a:noFill/>
        </p:spPr>
        <p:txBody>
          <a:bodyPr wrap="none" rtlCol="0">
            <a:spAutoFit/>
          </a:bodyPr>
          <a:lstStyle/>
          <a:p>
            <a:r>
              <a:rPr lang="en-IN" sz="2800" dirty="0">
                <a:solidFill>
                  <a:schemeClr val="bg1"/>
                </a:solidFill>
                <a:latin typeface="+mj-lt"/>
              </a:rPr>
              <a:t>DATA INGESTION PIPELINE</a:t>
            </a:r>
          </a:p>
        </p:txBody>
      </p:sp>
    </p:spTree>
    <p:extLst>
      <p:ext uri="{BB962C8B-B14F-4D97-AF65-F5344CB8AC3E}">
        <p14:creationId xmlns:p14="http://schemas.microsoft.com/office/powerpoint/2010/main" val="196978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BC63-1EB8-EFF6-FABB-B01DF9049EB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8B77D47-C570-CF90-C179-8FF5E396A47C}"/>
              </a:ext>
            </a:extLst>
          </p:cNvPr>
          <p:cNvSpPr txBox="1"/>
          <p:nvPr/>
        </p:nvSpPr>
        <p:spPr>
          <a:xfrm>
            <a:off x="3495255" y="501649"/>
            <a:ext cx="4821384" cy="523220"/>
          </a:xfrm>
          <a:prstGeom prst="rect">
            <a:avLst/>
          </a:prstGeom>
          <a:noFill/>
        </p:spPr>
        <p:txBody>
          <a:bodyPr wrap="none" rtlCol="0">
            <a:spAutoFit/>
          </a:bodyPr>
          <a:lstStyle/>
          <a:p>
            <a:r>
              <a:rPr lang="en-IN" sz="2800" dirty="0">
                <a:solidFill>
                  <a:schemeClr val="bg1"/>
                </a:solidFill>
                <a:latin typeface="+mj-lt"/>
              </a:rPr>
              <a:t>INSIDE ‘ForEachFile’ ACTIVITY</a:t>
            </a:r>
          </a:p>
        </p:txBody>
      </p:sp>
      <p:pic>
        <p:nvPicPr>
          <p:cNvPr id="3" name="Picture 2">
            <a:extLst>
              <a:ext uri="{FF2B5EF4-FFF2-40B4-BE49-F238E27FC236}">
                <a16:creationId xmlns:a16="http://schemas.microsoft.com/office/drawing/2014/main" id="{6FFB87A4-7C7F-8CB9-9C4E-2998FA3A2185}"/>
              </a:ext>
            </a:extLst>
          </p:cNvPr>
          <p:cNvPicPr>
            <a:picLocks noChangeAspect="1"/>
          </p:cNvPicPr>
          <p:nvPr/>
        </p:nvPicPr>
        <p:blipFill>
          <a:blip r:embed="rId3"/>
          <a:stretch>
            <a:fillRect/>
          </a:stretch>
        </p:blipFill>
        <p:spPr>
          <a:xfrm>
            <a:off x="240934" y="1394600"/>
            <a:ext cx="11710129" cy="4180678"/>
          </a:xfrm>
          <a:prstGeom prst="rect">
            <a:avLst/>
          </a:prstGeom>
        </p:spPr>
      </p:pic>
    </p:spTree>
    <p:extLst>
      <p:ext uri="{BB962C8B-B14F-4D97-AF65-F5344CB8AC3E}">
        <p14:creationId xmlns:p14="http://schemas.microsoft.com/office/powerpoint/2010/main" val="3090089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42643-BE85-C01C-D457-B01FBFBA776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75D5AC2-42DD-DEAD-D11C-2A9EF25DEB40}"/>
              </a:ext>
            </a:extLst>
          </p:cNvPr>
          <p:cNvSpPr txBox="1"/>
          <p:nvPr/>
        </p:nvSpPr>
        <p:spPr>
          <a:xfrm>
            <a:off x="2751109" y="646028"/>
            <a:ext cx="6689780" cy="523220"/>
          </a:xfrm>
          <a:prstGeom prst="rect">
            <a:avLst/>
          </a:prstGeom>
          <a:noFill/>
        </p:spPr>
        <p:txBody>
          <a:bodyPr wrap="none" rtlCol="0">
            <a:spAutoFit/>
          </a:bodyPr>
          <a:lstStyle/>
          <a:p>
            <a:r>
              <a:rPr lang="en-IN" sz="2800" dirty="0">
                <a:solidFill>
                  <a:schemeClr val="bg1"/>
                </a:solidFill>
                <a:latin typeface="+mj-lt"/>
              </a:rPr>
              <a:t>INSIDE ‘IfFileNotEmptyOrFolder’ ACTIVITY</a:t>
            </a:r>
          </a:p>
        </p:txBody>
      </p:sp>
      <p:pic>
        <p:nvPicPr>
          <p:cNvPr id="4" name="Picture 3">
            <a:extLst>
              <a:ext uri="{FF2B5EF4-FFF2-40B4-BE49-F238E27FC236}">
                <a16:creationId xmlns:a16="http://schemas.microsoft.com/office/drawing/2014/main" id="{A4E29E7C-B7FB-41B4-8F11-1BA2D4779E5A}"/>
              </a:ext>
            </a:extLst>
          </p:cNvPr>
          <p:cNvPicPr>
            <a:picLocks noChangeAspect="1"/>
          </p:cNvPicPr>
          <p:nvPr/>
        </p:nvPicPr>
        <p:blipFill>
          <a:blip r:embed="rId3"/>
          <a:stretch>
            <a:fillRect/>
          </a:stretch>
        </p:blipFill>
        <p:spPr>
          <a:xfrm>
            <a:off x="180473" y="1392352"/>
            <a:ext cx="11831053" cy="4164243"/>
          </a:xfrm>
          <a:prstGeom prst="rect">
            <a:avLst/>
          </a:prstGeom>
        </p:spPr>
      </p:pic>
    </p:spTree>
    <p:extLst>
      <p:ext uri="{BB962C8B-B14F-4D97-AF65-F5344CB8AC3E}">
        <p14:creationId xmlns:p14="http://schemas.microsoft.com/office/powerpoint/2010/main" val="4250338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420042" y="501652"/>
            <a:ext cx="9953308" cy="558987"/>
          </a:xfrm>
        </p:spPr>
        <p:txBody>
          <a:bodyPr/>
          <a:lstStyle/>
          <a:p>
            <a:r>
              <a:rPr lang="en-US" dirty="0"/>
              <a:t>DATA transformation pipeline</a:t>
            </a:r>
          </a:p>
        </p:txBody>
      </p:sp>
      <p:sp>
        <p:nvSpPr>
          <p:cNvPr id="14" name="Content Placeholder 13">
            <a:extLst>
              <a:ext uri="{FF2B5EF4-FFF2-40B4-BE49-F238E27FC236}">
                <a16:creationId xmlns:a16="http://schemas.microsoft.com/office/drawing/2014/main" id="{5112969F-EB84-49D5-7100-1FB28870FB30}"/>
              </a:ext>
            </a:extLst>
          </p:cNvPr>
          <p:cNvSpPr>
            <a:spLocks noGrp="1"/>
          </p:cNvSpPr>
          <p:nvPr>
            <p:ph sz="half" idx="14"/>
          </p:nvPr>
        </p:nvSpPr>
        <p:spPr>
          <a:xfrm>
            <a:off x="420041" y="1213317"/>
            <a:ext cx="10739247" cy="5193499"/>
          </a:xfrm>
        </p:spPr>
        <p:txBody>
          <a:bodyPr>
            <a:normAutofit/>
          </a:bodyPr>
          <a:lstStyle/>
          <a:p>
            <a:r>
              <a:rPr lang="en-US" b="1" dirty="0"/>
              <a:t>This pipeline extracts the data from the raw container and transforms the data and stores it in the processed container, where it will be ready for curation.</a:t>
            </a:r>
            <a:endParaRPr lang="en-US" dirty="0"/>
          </a:p>
          <a:p>
            <a:pPr lvl="1"/>
            <a:r>
              <a:rPr lang="en-US" dirty="0"/>
              <a:t>Data Types are appropriately assigned to the columns</a:t>
            </a:r>
          </a:p>
          <a:p>
            <a:pPr lvl="1"/>
            <a:r>
              <a:rPr lang="en-US" dirty="0"/>
              <a:t>Data quality checks took place to ensure that data was not valid. Eg CPU_Utilization &gt; 100% and handling of NULL values.</a:t>
            </a:r>
          </a:p>
          <a:p>
            <a:pPr lvl="1"/>
            <a:r>
              <a:rPr lang="en-US" dirty="0"/>
              <a:t>Metrics were derived from existing columns, such as Uptime_Utilization%, Server Load Categorization, Total Network traffic.</a:t>
            </a:r>
          </a:p>
          <a:p>
            <a:pPr lvl="1"/>
            <a:r>
              <a:rPr lang="en-US" dirty="0"/>
              <a:t>PII protection was implemented using sha-256 hashing, for columns such as IP_Address, Hostname, Admin_email and Admin_Phonenumber.</a:t>
            </a:r>
          </a:p>
          <a:p>
            <a:pPr lvl="1"/>
            <a:r>
              <a:rPr lang="en-US" dirty="0"/>
              <a:t>Files that were transformed in raw were also sent to an archive folder, as those files did not require processing again in the future.</a:t>
            </a:r>
          </a:p>
          <a:p>
            <a:pPr lvl="1"/>
            <a:r>
              <a:rPr lang="en-US" dirty="0"/>
              <a:t>Transformation Pipeline then triggers the Curation Pipeline via the ‘Execute Pipeline’ Activity.</a:t>
            </a:r>
          </a:p>
          <a:p>
            <a:pPr lvl="1"/>
            <a:r>
              <a:rPr lang="en-US" dirty="0"/>
              <a:t>Files were saved in the .parquet format.</a:t>
            </a:r>
          </a:p>
        </p:txBody>
      </p:sp>
    </p:spTree>
    <p:extLst>
      <p:ext uri="{BB962C8B-B14F-4D97-AF65-F5344CB8AC3E}">
        <p14:creationId xmlns:p14="http://schemas.microsoft.com/office/powerpoint/2010/main" val="636929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4E4CC10-B1B4-9B53-4AFF-EBB9B5544224}"/>
              </a:ext>
            </a:extLst>
          </p:cNvPr>
          <p:cNvSpPr txBox="1"/>
          <p:nvPr/>
        </p:nvSpPr>
        <p:spPr>
          <a:xfrm>
            <a:off x="3560343" y="655721"/>
            <a:ext cx="5071311" cy="461665"/>
          </a:xfrm>
          <a:prstGeom prst="rect">
            <a:avLst/>
          </a:prstGeom>
          <a:solidFill>
            <a:schemeClr val="bg1"/>
          </a:solidFill>
        </p:spPr>
        <p:txBody>
          <a:bodyPr wrap="square" rtlCol="0">
            <a:spAutoFit/>
          </a:bodyPr>
          <a:lstStyle/>
          <a:p>
            <a:r>
              <a:rPr lang="en-IN" sz="2400" dirty="0"/>
              <a:t>DATA TRANSFORMATION PIPELINE</a:t>
            </a:r>
          </a:p>
        </p:txBody>
      </p:sp>
      <p:pic>
        <p:nvPicPr>
          <p:cNvPr id="3" name="Picture 2">
            <a:extLst>
              <a:ext uri="{FF2B5EF4-FFF2-40B4-BE49-F238E27FC236}">
                <a16:creationId xmlns:a16="http://schemas.microsoft.com/office/drawing/2014/main" id="{2B800497-B67E-E14D-8716-FD83A076A693}"/>
              </a:ext>
            </a:extLst>
          </p:cNvPr>
          <p:cNvPicPr>
            <a:picLocks noChangeAspect="1"/>
          </p:cNvPicPr>
          <p:nvPr/>
        </p:nvPicPr>
        <p:blipFill>
          <a:blip r:embed="rId3"/>
          <a:stretch>
            <a:fillRect/>
          </a:stretch>
        </p:blipFill>
        <p:spPr>
          <a:xfrm>
            <a:off x="306803" y="1579347"/>
            <a:ext cx="11578389" cy="3944441"/>
          </a:xfrm>
          <a:prstGeom prst="rect">
            <a:avLst/>
          </a:prstGeom>
        </p:spPr>
      </p:pic>
    </p:spTree>
    <p:extLst>
      <p:ext uri="{BB962C8B-B14F-4D97-AF65-F5344CB8AC3E}">
        <p14:creationId xmlns:p14="http://schemas.microsoft.com/office/powerpoint/2010/main" val="1658164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8233-9411-029E-5607-77D5448D4571}"/>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1B60AA4-F8E6-E618-C776-4D2B5E56CE31}"/>
              </a:ext>
            </a:extLst>
          </p:cNvPr>
          <p:cNvSpPr txBox="1"/>
          <p:nvPr/>
        </p:nvSpPr>
        <p:spPr>
          <a:xfrm>
            <a:off x="3560343" y="854242"/>
            <a:ext cx="5071311" cy="461665"/>
          </a:xfrm>
          <a:prstGeom prst="rect">
            <a:avLst/>
          </a:prstGeom>
          <a:solidFill>
            <a:schemeClr val="bg1"/>
          </a:solidFill>
        </p:spPr>
        <p:txBody>
          <a:bodyPr wrap="square" rtlCol="0">
            <a:spAutoFit/>
          </a:bodyPr>
          <a:lstStyle/>
          <a:p>
            <a:r>
              <a:rPr lang="en-IN" sz="2400" dirty="0"/>
              <a:t>INSIDE ‘ForEachFile’ ACTIVITY</a:t>
            </a:r>
          </a:p>
        </p:txBody>
      </p:sp>
      <p:pic>
        <p:nvPicPr>
          <p:cNvPr id="3" name="Picture 2">
            <a:extLst>
              <a:ext uri="{FF2B5EF4-FFF2-40B4-BE49-F238E27FC236}">
                <a16:creationId xmlns:a16="http://schemas.microsoft.com/office/drawing/2014/main" id="{6F0EA468-D31E-F974-F975-E7B25C31EACB}"/>
              </a:ext>
            </a:extLst>
          </p:cNvPr>
          <p:cNvPicPr>
            <a:picLocks noChangeAspect="1"/>
          </p:cNvPicPr>
          <p:nvPr/>
        </p:nvPicPr>
        <p:blipFill>
          <a:blip r:embed="rId3"/>
          <a:stretch>
            <a:fillRect/>
          </a:stretch>
        </p:blipFill>
        <p:spPr>
          <a:xfrm>
            <a:off x="348916" y="1798320"/>
            <a:ext cx="11494168" cy="3779582"/>
          </a:xfrm>
          <a:prstGeom prst="rect">
            <a:avLst/>
          </a:prstGeom>
        </p:spPr>
      </p:pic>
    </p:spTree>
    <p:extLst>
      <p:ext uri="{BB962C8B-B14F-4D97-AF65-F5344CB8AC3E}">
        <p14:creationId xmlns:p14="http://schemas.microsoft.com/office/powerpoint/2010/main" val="2120341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AB009F7D-F305-3A47-466B-071359FF4A5A}"/>
              </a:ext>
            </a:extLst>
          </p:cNvPr>
          <p:cNvSpPr txBox="1"/>
          <p:nvPr/>
        </p:nvSpPr>
        <p:spPr>
          <a:xfrm>
            <a:off x="506968" y="1062128"/>
            <a:ext cx="5071311" cy="461665"/>
          </a:xfrm>
          <a:prstGeom prst="rect">
            <a:avLst/>
          </a:prstGeom>
          <a:noFill/>
        </p:spPr>
        <p:txBody>
          <a:bodyPr wrap="square" rtlCol="0">
            <a:spAutoFit/>
          </a:bodyPr>
          <a:lstStyle/>
          <a:p>
            <a:r>
              <a:rPr lang="en-IN" sz="2400" dirty="0"/>
              <a:t>DATA CURATION PIPELINE</a:t>
            </a:r>
          </a:p>
        </p:txBody>
      </p:sp>
      <p:sp>
        <p:nvSpPr>
          <p:cNvPr id="10" name="Content Placeholder 13">
            <a:extLst>
              <a:ext uri="{FF2B5EF4-FFF2-40B4-BE49-F238E27FC236}">
                <a16:creationId xmlns:a16="http://schemas.microsoft.com/office/drawing/2014/main" id="{45BBEED9-8FF9-0732-0CE9-B639A4E6CEA7}"/>
              </a:ext>
            </a:extLst>
          </p:cNvPr>
          <p:cNvSpPr txBox="1">
            <a:spLocks/>
          </p:cNvSpPr>
          <p:nvPr/>
        </p:nvSpPr>
        <p:spPr>
          <a:xfrm>
            <a:off x="506968" y="2374363"/>
            <a:ext cx="10739247" cy="5193499"/>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5214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This pipeline extracts the transformed data from the processed layer, and performs aggregations on it, making it business ready.</a:t>
            </a:r>
          </a:p>
          <a:p>
            <a:pPr lvl="1"/>
            <a:r>
              <a:rPr lang="en-US" dirty="0"/>
              <a:t>Data is aggregated via 5 key factors i.e. Timestamp, Location, OS_Types, Host and Server Load.</a:t>
            </a:r>
          </a:p>
          <a:p>
            <a:pPr lvl="1"/>
            <a:r>
              <a:rPr lang="en-US" dirty="0"/>
              <a:t>After performing aggregations on the data, it is saved in separate directories, such as ‘server_metrics_by_time’, ‘server_metrics_by_location’, ‘server_metrics_by_OS_types’, ‘server_metrics_by_Host’, ‘server_metrics_by_load’.</a:t>
            </a:r>
          </a:p>
          <a:p>
            <a:pPr lvl="1"/>
            <a:r>
              <a:rPr lang="en-US" dirty="0"/>
              <a:t>These curated datsets provide summarized views of these separate factors.</a:t>
            </a:r>
          </a:p>
          <a:p>
            <a:pPr lvl="1"/>
            <a:r>
              <a:rPr lang="en-US" dirty="0"/>
              <a:t>Power BI imports the parquet files from these directories, using an Access Key, and creates dashboards on the data.</a:t>
            </a:r>
          </a:p>
        </p:txBody>
      </p:sp>
    </p:spTree>
    <p:extLst>
      <p:ext uri="{BB962C8B-B14F-4D97-AF65-F5344CB8AC3E}">
        <p14:creationId xmlns:p14="http://schemas.microsoft.com/office/powerpoint/2010/main" val="240357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1F259F1-0B57-CC96-B44D-85A07B982C73}"/>
              </a:ext>
            </a:extLst>
          </p:cNvPr>
          <p:cNvSpPr txBox="1"/>
          <p:nvPr/>
        </p:nvSpPr>
        <p:spPr>
          <a:xfrm>
            <a:off x="3853462" y="228600"/>
            <a:ext cx="4485074" cy="400110"/>
          </a:xfrm>
          <a:prstGeom prst="rect">
            <a:avLst/>
          </a:prstGeom>
          <a:noFill/>
        </p:spPr>
        <p:txBody>
          <a:bodyPr wrap="none" rtlCol="0">
            <a:spAutoFit/>
          </a:bodyPr>
          <a:lstStyle/>
          <a:p>
            <a:r>
              <a:rPr lang="en-IN" sz="2000" dirty="0"/>
              <a:t>DATA CURATION PIPELINE/DATA FLOW</a:t>
            </a:r>
          </a:p>
        </p:txBody>
      </p:sp>
      <p:pic>
        <p:nvPicPr>
          <p:cNvPr id="5" name="Picture 4">
            <a:extLst>
              <a:ext uri="{FF2B5EF4-FFF2-40B4-BE49-F238E27FC236}">
                <a16:creationId xmlns:a16="http://schemas.microsoft.com/office/drawing/2014/main" id="{44CF6428-85F6-FDB4-AABB-32D3F4D51B78}"/>
              </a:ext>
            </a:extLst>
          </p:cNvPr>
          <p:cNvPicPr>
            <a:picLocks noChangeAspect="1"/>
          </p:cNvPicPr>
          <p:nvPr/>
        </p:nvPicPr>
        <p:blipFill>
          <a:blip r:embed="rId3"/>
          <a:stretch>
            <a:fillRect/>
          </a:stretch>
        </p:blipFill>
        <p:spPr>
          <a:xfrm>
            <a:off x="994650" y="713996"/>
            <a:ext cx="10202699" cy="5430008"/>
          </a:xfrm>
          <a:prstGeom prst="rect">
            <a:avLst/>
          </a:prstGeom>
        </p:spPr>
      </p:pic>
    </p:spTree>
    <p:extLst>
      <p:ext uri="{BB962C8B-B14F-4D97-AF65-F5344CB8AC3E}">
        <p14:creationId xmlns:p14="http://schemas.microsoft.com/office/powerpoint/2010/main" val="608796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E7F5CC-D1DE-3F7C-0769-5198C2D43980}"/>
              </a:ext>
            </a:extLst>
          </p:cNvPr>
          <p:cNvSpPr txBox="1"/>
          <p:nvPr/>
        </p:nvSpPr>
        <p:spPr>
          <a:xfrm>
            <a:off x="4368668" y="102269"/>
            <a:ext cx="3454664" cy="461665"/>
          </a:xfrm>
          <a:prstGeom prst="rect">
            <a:avLst/>
          </a:prstGeom>
          <a:noFill/>
        </p:spPr>
        <p:txBody>
          <a:bodyPr wrap="none" rtlCol="0">
            <a:spAutoFit/>
          </a:bodyPr>
          <a:lstStyle/>
          <a:p>
            <a:r>
              <a:rPr lang="en-IN" sz="2400" dirty="0"/>
              <a:t>POWER BI DASHBOARDS</a:t>
            </a:r>
          </a:p>
        </p:txBody>
      </p:sp>
      <p:sp>
        <p:nvSpPr>
          <p:cNvPr id="9" name="TextBox 8">
            <a:extLst>
              <a:ext uri="{FF2B5EF4-FFF2-40B4-BE49-F238E27FC236}">
                <a16:creationId xmlns:a16="http://schemas.microsoft.com/office/drawing/2014/main" id="{B8BB18AF-DB80-AB09-B694-91AE03B241FB}"/>
              </a:ext>
            </a:extLst>
          </p:cNvPr>
          <p:cNvSpPr txBox="1"/>
          <p:nvPr/>
        </p:nvSpPr>
        <p:spPr>
          <a:xfrm>
            <a:off x="4621654" y="563934"/>
            <a:ext cx="2948692" cy="369332"/>
          </a:xfrm>
          <a:prstGeom prst="rect">
            <a:avLst/>
          </a:prstGeom>
          <a:noFill/>
        </p:spPr>
        <p:txBody>
          <a:bodyPr wrap="none" rtlCol="0">
            <a:spAutoFit/>
          </a:bodyPr>
          <a:lstStyle/>
          <a:p>
            <a:r>
              <a:rPr lang="en-IN" dirty="0"/>
              <a:t>Overview and Server Health</a:t>
            </a:r>
          </a:p>
        </p:txBody>
      </p:sp>
      <p:pic>
        <p:nvPicPr>
          <p:cNvPr id="3" name="Picture 2">
            <a:extLst>
              <a:ext uri="{FF2B5EF4-FFF2-40B4-BE49-F238E27FC236}">
                <a16:creationId xmlns:a16="http://schemas.microsoft.com/office/drawing/2014/main" id="{90F35E8D-0137-C260-3A1C-964E72603374}"/>
              </a:ext>
            </a:extLst>
          </p:cNvPr>
          <p:cNvPicPr>
            <a:picLocks noChangeAspect="1"/>
          </p:cNvPicPr>
          <p:nvPr/>
        </p:nvPicPr>
        <p:blipFill>
          <a:blip r:embed="rId3"/>
          <a:stretch>
            <a:fillRect/>
          </a:stretch>
        </p:blipFill>
        <p:spPr>
          <a:xfrm>
            <a:off x="885242" y="933266"/>
            <a:ext cx="10421516" cy="5832401"/>
          </a:xfrm>
          <a:prstGeom prst="rect">
            <a:avLst/>
          </a:prstGeom>
        </p:spPr>
      </p:pic>
    </p:spTree>
    <p:extLst>
      <p:ext uri="{BB962C8B-B14F-4D97-AF65-F5344CB8AC3E}">
        <p14:creationId xmlns:p14="http://schemas.microsoft.com/office/powerpoint/2010/main" val="2791821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835E7-62A5-80DC-BC1D-2D74BC9C9AF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B289FF6-B086-B382-1369-F593F3E5C63C}"/>
              </a:ext>
            </a:extLst>
          </p:cNvPr>
          <p:cNvSpPr txBox="1"/>
          <p:nvPr/>
        </p:nvSpPr>
        <p:spPr>
          <a:xfrm>
            <a:off x="4368668" y="102269"/>
            <a:ext cx="3454664" cy="461665"/>
          </a:xfrm>
          <a:prstGeom prst="rect">
            <a:avLst/>
          </a:prstGeom>
          <a:noFill/>
        </p:spPr>
        <p:txBody>
          <a:bodyPr wrap="none" rtlCol="0">
            <a:spAutoFit/>
          </a:bodyPr>
          <a:lstStyle/>
          <a:p>
            <a:r>
              <a:rPr lang="en-IN" sz="2400" dirty="0"/>
              <a:t>POWER BI DASHBOARDS</a:t>
            </a:r>
          </a:p>
        </p:txBody>
      </p:sp>
      <p:sp>
        <p:nvSpPr>
          <p:cNvPr id="9" name="TextBox 8">
            <a:extLst>
              <a:ext uri="{FF2B5EF4-FFF2-40B4-BE49-F238E27FC236}">
                <a16:creationId xmlns:a16="http://schemas.microsoft.com/office/drawing/2014/main" id="{215975F5-E0D6-0A8F-2638-4E6C740F6D85}"/>
              </a:ext>
            </a:extLst>
          </p:cNvPr>
          <p:cNvSpPr txBox="1"/>
          <p:nvPr/>
        </p:nvSpPr>
        <p:spPr>
          <a:xfrm>
            <a:off x="3598361" y="563934"/>
            <a:ext cx="4995278" cy="369332"/>
          </a:xfrm>
          <a:prstGeom prst="rect">
            <a:avLst/>
          </a:prstGeom>
          <a:noFill/>
        </p:spPr>
        <p:txBody>
          <a:bodyPr wrap="none" rtlCol="0">
            <a:spAutoFit/>
          </a:bodyPr>
          <a:lstStyle/>
          <a:p>
            <a:r>
              <a:rPr lang="en-IN" dirty="0"/>
              <a:t>Infrastructure Overview and Performance Trends</a:t>
            </a:r>
          </a:p>
        </p:txBody>
      </p:sp>
      <p:pic>
        <p:nvPicPr>
          <p:cNvPr id="4" name="Picture 3">
            <a:extLst>
              <a:ext uri="{FF2B5EF4-FFF2-40B4-BE49-F238E27FC236}">
                <a16:creationId xmlns:a16="http://schemas.microsoft.com/office/drawing/2014/main" id="{5521BF09-C4A5-5C4E-D364-BC9001601436}"/>
              </a:ext>
            </a:extLst>
          </p:cNvPr>
          <p:cNvPicPr>
            <a:picLocks noChangeAspect="1"/>
          </p:cNvPicPr>
          <p:nvPr/>
        </p:nvPicPr>
        <p:blipFill>
          <a:blip r:embed="rId3"/>
          <a:stretch>
            <a:fillRect/>
          </a:stretch>
        </p:blipFill>
        <p:spPr>
          <a:xfrm>
            <a:off x="886837" y="933266"/>
            <a:ext cx="10418325" cy="5826385"/>
          </a:xfrm>
          <a:prstGeom prst="rect">
            <a:avLst/>
          </a:prstGeom>
        </p:spPr>
      </p:pic>
    </p:spTree>
    <p:extLst>
      <p:ext uri="{BB962C8B-B14F-4D97-AF65-F5344CB8AC3E}">
        <p14:creationId xmlns:p14="http://schemas.microsoft.com/office/powerpoint/2010/main" val="165790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43247-1EE7-8162-B6F0-566268E1A40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0EA92C4-207E-111D-C13F-2C22BDED7EEA}"/>
              </a:ext>
            </a:extLst>
          </p:cNvPr>
          <p:cNvSpPr txBox="1"/>
          <p:nvPr/>
        </p:nvSpPr>
        <p:spPr>
          <a:xfrm>
            <a:off x="4368668" y="102269"/>
            <a:ext cx="3454664" cy="461665"/>
          </a:xfrm>
          <a:prstGeom prst="rect">
            <a:avLst/>
          </a:prstGeom>
          <a:noFill/>
        </p:spPr>
        <p:txBody>
          <a:bodyPr wrap="none" rtlCol="0">
            <a:spAutoFit/>
          </a:bodyPr>
          <a:lstStyle/>
          <a:p>
            <a:r>
              <a:rPr lang="en-IN" sz="2400" dirty="0"/>
              <a:t>POWER BI DASHBOARDS</a:t>
            </a:r>
          </a:p>
        </p:txBody>
      </p:sp>
      <p:sp>
        <p:nvSpPr>
          <p:cNvPr id="9" name="TextBox 8">
            <a:extLst>
              <a:ext uri="{FF2B5EF4-FFF2-40B4-BE49-F238E27FC236}">
                <a16:creationId xmlns:a16="http://schemas.microsoft.com/office/drawing/2014/main" id="{C8599189-8569-BCE6-77D7-89DE1CFBB6C4}"/>
              </a:ext>
            </a:extLst>
          </p:cNvPr>
          <p:cNvSpPr txBox="1"/>
          <p:nvPr/>
        </p:nvSpPr>
        <p:spPr>
          <a:xfrm>
            <a:off x="5017211" y="563934"/>
            <a:ext cx="2157578" cy="369332"/>
          </a:xfrm>
          <a:prstGeom prst="rect">
            <a:avLst/>
          </a:prstGeom>
          <a:noFill/>
        </p:spPr>
        <p:txBody>
          <a:bodyPr wrap="none" rtlCol="0">
            <a:spAutoFit/>
          </a:bodyPr>
          <a:lstStyle/>
          <a:p>
            <a:r>
              <a:rPr lang="en-IN" dirty="0"/>
              <a:t>Resource Utilization</a:t>
            </a:r>
          </a:p>
        </p:txBody>
      </p:sp>
      <p:pic>
        <p:nvPicPr>
          <p:cNvPr id="4" name="Picture 3">
            <a:extLst>
              <a:ext uri="{FF2B5EF4-FFF2-40B4-BE49-F238E27FC236}">
                <a16:creationId xmlns:a16="http://schemas.microsoft.com/office/drawing/2014/main" id="{B789C41C-8715-F98B-326A-EA7CE57A075D}"/>
              </a:ext>
            </a:extLst>
          </p:cNvPr>
          <p:cNvPicPr>
            <a:picLocks noChangeAspect="1"/>
          </p:cNvPicPr>
          <p:nvPr/>
        </p:nvPicPr>
        <p:blipFill>
          <a:blip r:embed="rId3"/>
          <a:stretch>
            <a:fillRect/>
          </a:stretch>
        </p:blipFill>
        <p:spPr>
          <a:xfrm>
            <a:off x="898598" y="977472"/>
            <a:ext cx="10394804" cy="5832401"/>
          </a:xfrm>
          <a:prstGeom prst="rect">
            <a:avLst/>
          </a:prstGeom>
        </p:spPr>
      </p:pic>
    </p:spTree>
    <p:extLst>
      <p:ext uri="{BB962C8B-B14F-4D97-AF65-F5344CB8AC3E}">
        <p14:creationId xmlns:p14="http://schemas.microsoft.com/office/powerpoint/2010/main" val="815916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CE189-F7C4-E1AC-9A95-A9485301B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7EFD6-4FCB-1333-875A-F335D1CD93F4}"/>
              </a:ext>
            </a:extLst>
          </p:cNvPr>
          <p:cNvSpPr>
            <a:spLocks noGrp="1"/>
          </p:cNvSpPr>
          <p:nvPr>
            <p:ph type="title"/>
          </p:nvPr>
        </p:nvSpPr>
        <p:spPr>
          <a:xfrm>
            <a:off x="2049379" y="1546190"/>
            <a:ext cx="8420100" cy="569146"/>
          </a:xfrm>
        </p:spPr>
        <p:txBody>
          <a:bodyPr/>
          <a:lstStyle/>
          <a:p>
            <a:r>
              <a:rPr lang="en-US" dirty="0"/>
              <a:t>POWER BI INSIGHTS</a:t>
            </a:r>
          </a:p>
        </p:txBody>
      </p:sp>
      <p:sp>
        <p:nvSpPr>
          <p:cNvPr id="50" name="Content Placeholder 49">
            <a:extLst>
              <a:ext uri="{FF2B5EF4-FFF2-40B4-BE49-F238E27FC236}">
                <a16:creationId xmlns:a16="http://schemas.microsoft.com/office/drawing/2014/main" id="{1FC82AF3-E1A5-E3BF-1EE4-198EB85B5EE4}"/>
              </a:ext>
            </a:extLst>
          </p:cNvPr>
          <p:cNvSpPr>
            <a:spLocks noGrp="1"/>
          </p:cNvSpPr>
          <p:nvPr>
            <p:ph sz="half" idx="14"/>
          </p:nvPr>
        </p:nvSpPr>
        <p:spPr>
          <a:xfrm>
            <a:off x="2049379" y="2355242"/>
            <a:ext cx="8538411" cy="3234264"/>
          </a:xfrm>
        </p:spPr>
        <p:txBody>
          <a:bodyPr>
            <a:normAutofit fontScale="92500" lnSpcReduction="20000"/>
          </a:bodyPr>
          <a:lstStyle/>
          <a:p>
            <a:r>
              <a:rPr lang="en-US" b="1" dirty="0"/>
              <a:t>Features such as Drill Through were used, with some DAX measures to help in visualizations</a:t>
            </a:r>
          </a:p>
          <a:p>
            <a:pPr marL="285750" indent="-285750">
              <a:buFont typeface="Arial" panose="020B0604020202020204" pitchFamily="34" charset="0"/>
              <a:buChar char="•"/>
            </a:pPr>
            <a:r>
              <a:rPr lang="en-US" dirty="0"/>
              <a:t>KPI Indicators at the top showcase the average system health and performance usage</a:t>
            </a:r>
          </a:p>
          <a:p>
            <a:pPr marL="285750" indent="-285750">
              <a:buFont typeface="Arial" panose="020B0604020202020204" pitchFamily="34" charset="0"/>
              <a:buChar char="•"/>
            </a:pPr>
            <a:r>
              <a:rPr lang="en-US" dirty="0"/>
              <a:t>‘Average CPU Utilization by Host’ is also displayed, with all visuals affected by the filters applied on ‘Server Load Distribution’, and the ‘Month Name’ slicers.</a:t>
            </a:r>
          </a:p>
          <a:p>
            <a:pPr marL="285750" indent="-285750">
              <a:buFont typeface="Arial" panose="020B0604020202020204" pitchFamily="34" charset="0"/>
              <a:buChar char="•"/>
            </a:pPr>
            <a:r>
              <a:rPr lang="en-US" dirty="0"/>
              <a:t>Drill through feature allows these filters to be pushed to the Infrastructure and Resource Utilization page.</a:t>
            </a:r>
          </a:p>
          <a:p>
            <a:pPr marL="285750" indent="-285750">
              <a:buFont typeface="Arial" panose="020B0604020202020204" pitchFamily="34" charset="0"/>
              <a:buChar char="•"/>
            </a:pPr>
            <a:r>
              <a:rPr lang="en-US" dirty="0"/>
              <a:t>‘Average CPU Utilization by Time’ shows the trends in performance, ‘Server Load Distributions’ show infrastructure usage levels, ‘Servers by location and OS’ show infrastructure distribution, and the ‘Resource Utilization’ Page shows the relationship between CPU and I/O operations, and Network-Memory relationship.</a:t>
            </a:r>
          </a:p>
        </p:txBody>
      </p:sp>
    </p:spTree>
    <p:extLst>
      <p:ext uri="{BB962C8B-B14F-4D97-AF65-F5344CB8AC3E}">
        <p14:creationId xmlns:p14="http://schemas.microsoft.com/office/powerpoint/2010/main" val="1442189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30B0-8042-142F-BA35-056E1A1B4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BC37D-9478-98CD-0685-9556340C5813}"/>
              </a:ext>
            </a:extLst>
          </p:cNvPr>
          <p:cNvSpPr>
            <a:spLocks noGrp="1"/>
          </p:cNvSpPr>
          <p:nvPr>
            <p:ph type="title"/>
          </p:nvPr>
        </p:nvSpPr>
        <p:spPr>
          <a:xfrm>
            <a:off x="1370537" y="952836"/>
            <a:ext cx="9953308" cy="558987"/>
          </a:xfrm>
        </p:spPr>
        <p:txBody>
          <a:bodyPr/>
          <a:lstStyle/>
          <a:p>
            <a:r>
              <a:rPr lang="en-US" dirty="0"/>
              <a:t>ASSUMPTIONS MADE &amp; CHALLENGES FACED</a:t>
            </a:r>
          </a:p>
        </p:txBody>
      </p:sp>
      <p:sp>
        <p:nvSpPr>
          <p:cNvPr id="14" name="Content Placeholder 13">
            <a:extLst>
              <a:ext uri="{FF2B5EF4-FFF2-40B4-BE49-F238E27FC236}">
                <a16:creationId xmlns:a16="http://schemas.microsoft.com/office/drawing/2014/main" id="{01274274-6C03-195C-96C2-71BCA4559B9D}"/>
              </a:ext>
            </a:extLst>
          </p:cNvPr>
          <p:cNvSpPr>
            <a:spLocks noGrp="1"/>
          </p:cNvSpPr>
          <p:nvPr>
            <p:ph sz="half" idx="14"/>
          </p:nvPr>
        </p:nvSpPr>
        <p:spPr>
          <a:xfrm>
            <a:off x="1370536" y="1664501"/>
            <a:ext cx="10739247" cy="4688172"/>
          </a:xfrm>
        </p:spPr>
        <p:txBody>
          <a:bodyPr>
            <a:normAutofit/>
          </a:bodyPr>
          <a:lstStyle/>
          <a:p>
            <a:r>
              <a:rPr lang="en-US" u="sng" dirty="0"/>
              <a:t>Assumptions</a:t>
            </a:r>
          </a:p>
          <a:p>
            <a:pPr marL="285750" indent="-285750">
              <a:buFont typeface="Arial" panose="020B0604020202020204" pitchFamily="34" charset="0"/>
              <a:buChar char="•"/>
            </a:pPr>
            <a:r>
              <a:rPr lang="en-US" dirty="0"/>
              <a:t>Logs are uploaded directly into the staging container.</a:t>
            </a:r>
          </a:p>
          <a:p>
            <a:pPr marL="285750" indent="-285750">
              <a:buFont typeface="Arial" panose="020B0604020202020204" pitchFamily="34" charset="0"/>
              <a:buChar char="•"/>
            </a:pPr>
            <a:r>
              <a:rPr lang="en-US" dirty="0"/>
              <a:t>Multiple servers are run by the same host.</a:t>
            </a:r>
          </a:p>
          <a:p>
            <a:pPr marL="285750" indent="-285750">
              <a:buFont typeface="Arial" panose="020B0604020202020204" pitchFamily="34" charset="0"/>
              <a:buChar char="•"/>
            </a:pPr>
            <a:r>
              <a:rPr lang="en-US" dirty="0"/>
              <a:t>Server Load determined using CPU Utilization values.</a:t>
            </a:r>
          </a:p>
          <a:p>
            <a:pPr marL="285750" indent="-285750">
              <a:buFont typeface="Arial" panose="020B0604020202020204" pitchFamily="34" charset="0"/>
              <a:buChar char="•"/>
            </a:pPr>
            <a:endParaRPr lang="en-US" dirty="0"/>
          </a:p>
          <a:p>
            <a:r>
              <a:rPr lang="en-US" u="sng" dirty="0"/>
              <a:t>Challenges</a:t>
            </a:r>
          </a:p>
          <a:p>
            <a:pPr marL="285750" indent="-285750">
              <a:buFont typeface="Arial" panose="020B0604020202020204" pitchFamily="34" charset="0"/>
              <a:buChar char="•"/>
            </a:pPr>
            <a:r>
              <a:rPr lang="en-US" dirty="0"/>
              <a:t>Preventing duplicate processing of files uploaded in staging container.</a:t>
            </a:r>
          </a:p>
          <a:p>
            <a:pPr marL="285750" indent="-285750">
              <a:buFont typeface="Arial" panose="020B0604020202020204" pitchFamily="34" charset="0"/>
              <a:buChar char="•"/>
            </a:pPr>
            <a:r>
              <a:rPr lang="en-US" dirty="0"/>
              <a:t>Maintaining readable dashboards where host names are included, by displaying partial hash value for host names.</a:t>
            </a:r>
          </a:p>
        </p:txBody>
      </p:sp>
    </p:spTree>
    <p:extLst>
      <p:ext uri="{BB962C8B-B14F-4D97-AF65-F5344CB8AC3E}">
        <p14:creationId xmlns:p14="http://schemas.microsoft.com/office/powerpoint/2010/main" val="3511739819"/>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179</TotalTime>
  <Words>821</Words>
  <Application>Microsoft Office PowerPoint</Application>
  <PresentationFormat>Widescreen</PresentationFormat>
  <Paragraphs>74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Tenorite</vt:lpstr>
      <vt:lpstr>Custom</vt:lpstr>
      <vt:lpstr>PowerPoint Presentation</vt:lpstr>
      <vt:lpstr>objectives</vt:lpstr>
      <vt:lpstr>Data Ingestion pipeline</vt:lpstr>
      <vt:lpstr>PowerPoint Presentation</vt:lpstr>
      <vt:lpstr>PowerPoint Presentation</vt:lpstr>
      <vt:lpstr>PowerPoint Presentation</vt:lpstr>
      <vt:lpstr>DATA transformation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 INSIGHTS</vt:lpstr>
      <vt:lpstr>ASSUMPTIONS MADE &amp; CHALLENGES FACED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Rithin</dc:creator>
  <cp:lastModifiedBy>Rithin</cp:lastModifiedBy>
  <cp:revision>3</cp:revision>
  <dcterms:created xsi:type="dcterms:W3CDTF">2026-03-14T00:38:15Z</dcterms:created>
  <dcterms:modified xsi:type="dcterms:W3CDTF">2026-03-15T16:10:38Z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efa4170-0d19-0005-0000-bc88714345d2_Enabled">
    <vt:lpwstr>true</vt:lpwstr>
  </property>
  <property fmtid="{D5CDD505-2E9C-101B-9397-08002B2CF9AE}" pid="5" name="MSIP_Label_defa4170-0d19-0005-0000-bc88714345d2_SetDate">
    <vt:lpwstr>2026-03-14T03:08:04Z</vt:lpwstr>
  </property>
  <property fmtid="{D5CDD505-2E9C-101B-9397-08002B2CF9AE}" pid="6" name="MSIP_Label_defa4170-0d19-0005-0000-bc88714345d2_Method">
    <vt:lpwstr>Standard</vt:lpwstr>
  </property>
  <property fmtid="{D5CDD505-2E9C-101B-9397-08002B2CF9AE}" pid="7" name="MSIP_Label_defa4170-0d19-0005-0000-bc88714345d2_Name">
    <vt:lpwstr>defa4170-0d19-0005-0000-bc88714345d2</vt:lpwstr>
  </property>
  <property fmtid="{D5CDD505-2E9C-101B-9397-08002B2CF9AE}" pid="8" name="MSIP_Label_defa4170-0d19-0005-0000-bc88714345d2_SiteId">
    <vt:lpwstr>b7024148-7537-4dc3-bb05-2cbf3c1b6d4d</vt:lpwstr>
  </property>
  <property fmtid="{D5CDD505-2E9C-101B-9397-08002B2CF9AE}" pid="9" name="MSIP_Label_defa4170-0d19-0005-0000-bc88714345d2_ActionId">
    <vt:lpwstr>bc6a8bbe-914d-4619-837f-731ef5053f5c</vt:lpwstr>
  </property>
  <property fmtid="{D5CDD505-2E9C-101B-9397-08002B2CF9AE}" pid="10" name="MSIP_Label_defa4170-0d19-0005-0000-bc88714345d2_ContentBits">
    <vt:lpwstr>0</vt:lpwstr>
  </property>
  <property fmtid="{D5CDD505-2E9C-101B-9397-08002B2CF9AE}" pid="11" name="MSIP_Label_defa4170-0d19-0005-0000-bc88714345d2_Tag">
    <vt:lpwstr>10, 3, 0, 1</vt:lpwstr>
  </property>
</Properties>
</file>